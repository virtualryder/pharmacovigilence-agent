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for a drug-safety / QA / compliance audience. The promise is governance first: this agent helps your reviewers without ever stepping outside the controls your regulators expect.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the customer where they are: volume pressure, manual toil, and a compliance bar that rules out ungoverned AI. The rest of the deck resolves that 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'does vs never' framing is what earns trust with QA/compliance. The 'never' column is enforced by policy, not by prompt — that's the difference.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 = agent-assisted, amber = the qualified person, navy = the gated submission. Emphasize: judgment stays human; toil goes to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your compliance stakeholders came for: each control mapped to the regulation it satisfies. Walk it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trust posture in one slide: your account, your data, your IdP, reversible. This addresses the security review that inevitably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Concrete, honest proof points. Note the framing: 'not a slideware demo' — it's reproducible and enforced, which is what a regulated buyer needs to hear.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Honesty builds trust with regulated buyers. Be explicit that CSV, connectors to their real systems, dictionary licensing, and ATO stay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 framed honestly as assist, not replacement. Avoid overclaiming throughput; emphasize consistency, audit-readiness, and keeping humans in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 concrete, low-commitment path. The pilot is synthetic-data, in-their-account, reversible — designed to be an easy yes for a security-conscious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  ·  GOVERNED AI ON AWS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" y="18288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for</a:t>
            </a:r>
            <a:endParaRPr lang="en-US" sz="4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Drug-Safety Case Intake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 that assembles, codes, and drafts ICSRs under strict governance — fail-closed on PHI, tamper-proof by design, and never able to submit on its own. Built on Amazon Bedrock AgentCore, running in your AWS account.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5212080"/>
            <a:ext cx="26700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12080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by construction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38728" y="5212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5212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account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0176" y="5212080"/>
            <a:ext cx="184708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0176" y="521208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Human-in-command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volumes rise. Every intake step must stay compliant.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Adverse-event reporting is growing, intake is largely manual, and the reporting clocks don't wait. AI could take the assembly load off your reviewers — but only if it operates entirely inside your compliance envelope.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7121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&amp; clocks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7782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case counts against fixed expedited / periodic reporting deadlines.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87121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0857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assembly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2686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reviewers spend time on extraction, coding, and drafting — not judgment.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65008" y="2560320"/>
            <a:ext cx="3529584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7616" y="287121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57616" y="2871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89136" y="288950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compliance slack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75904" y="37490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handling, e-records, and the qualified-person determination leave no room for an ungoverned tool.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that does the assembly — and is structurally incapable of overstepping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looks up safety background, de-identifies the case, drafts a CIOMS-style narrative, and prepares the submission for review. Then it stops. A qualified person makes the determination and commits — the agent cannot.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86968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DOES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86968" y="3520440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86968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FAERS / safety background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86968" y="3941064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 the case (fail-closed)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968" y="4361688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ICSR narrative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6968" y="4782312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tamper-proof audit entry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6968" y="5202936"/>
            <a:ext cx="274320" cy="27432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6968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human sign-off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9632" y="2788920"/>
            <a:ext cx="5440680" cy="2880360"/>
          </a:xfrm>
          <a:prstGeom prst="roundRect">
            <a:avLst>
              <a:gd name="adj" fmla="val 3175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3017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19672" y="3520440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3474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un-masked PHI without controls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3941064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3895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on un-de-identified data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519672" y="4361688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519672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12864" y="43159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its own work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19672" y="4782312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19672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12864" y="47365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the regulator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519672" y="5202936"/>
            <a:ext cx="274320" cy="274320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519672" y="5202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12864" y="5157216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or alter the audit trail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YOUR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Agent-assisted intake, human-in-command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up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87168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98064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9504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9504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De-identify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07792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(fail-closed)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8304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20640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38928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ICSR narrative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60336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51776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PERSON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51776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70064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0576" y="1874520"/>
            <a:ext cx="365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A8A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491472" y="1874520"/>
            <a:ext cx="1975104" cy="1737360"/>
          </a:xfrm>
          <a:prstGeom prst="roundRect">
            <a:avLst>
              <a:gd name="adj" fmla="val 5263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582912" y="207568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82912" y="244144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0" y="2898648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FDA / EMA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97764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42245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passes an access-control check before it runs, and the two consequential steps — drafting on un-masked data, and submitting — are impossible for the agent to reach on its own.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reviewers stay in command — </a:t>
            </a:r>
            <a:pPr indent="0" marL="0">
              <a:buNone/>
            </a:pPr>
            <a:r>
              <a:rPr lang="en-US" sz="1400" i="1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removes the assembly toil, not the judgment.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COMPLIANCE &amp; QA TEAMS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controls that let you say yes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52704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527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7048" y="149047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/ PII masking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61888" y="149047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is de-identified before the model or the audit sees it. No masking → no draft.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213848" y="158191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0" name="Text 8"/>
          <p:cNvSpPr/>
          <p:nvPr/>
        </p:nvSpPr>
        <p:spPr>
          <a:xfrm>
            <a:off x="10213848" y="1581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235000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" y="2350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23134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61888" y="2313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write-once evidence of every decision and state change — the writer can't alter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213848" y="240487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17" name="Text 15"/>
          <p:cNvSpPr/>
          <p:nvPr/>
        </p:nvSpPr>
        <p:spPr>
          <a:xfrm>
            <a:off x="10213848" y="24048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06324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" y="3172968"/>
            <a:ext cx="475488" cy="47548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31729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27048" y="3136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(separation of duties)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961888" y="313639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person approves with a bound, single-use token before any submission.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213848" y="322783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24" name="Text 22"/>
          <p:cNvSpPr/>
          <p:nvPr/>
        </p:nvSpPr>
        <p:spPr>
          <a:xfrm>
            <a:off x="10213848" y="3227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GVP · GxP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38862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41248" y="399592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41248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7048" y="395935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961888" y="395935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checked against policy; nothing runs unless explicitly permitted.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13848" y="405079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1" name="Text 29"/>
          <p:cNvSpPr/>
          <p:nvPr/>
        </p:nvSpPr>
        <p:spPr>
          <a:xfrm>
            <a:off x="10213848" y="405079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470916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4818888"/>
            <a:ext cx="475488" cy="47548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41248" y="4818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527048" y="4782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identity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5961888" y="478231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bound to an authenticated person via your identity provider.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213848" y="4873752"/>
            <a:ext cx="1280160" cy="402336"/>
          </a:xfrm>
          <a:prstGeom prst="roundRect">
            <a:avLst>
              <a:gd name="adj" fmla="val 22727"/>
            </a:avLst>
          </a:prstGeom>
          <a:solidFill>
            <a:srgbClr val="EAF1F4"/>
          </a:solidFill>
          <a:ln/>
        </p:spPr>
      </p:sp>
      <p:sp>
        <p:nvSpPr>
          <p:cNvPr id="38" name="Text 36"/>
          <p:cNvSpPr/>
          <p:nvPr/>
        </p:nvSpPr>
        <p:spPr>
          <a:xfrm>
            <a:off x="10213848" y="487375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· e-sig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on Amazon Bedrock AgentCore — inside your AWS boundary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isn't a bolt-on. Identity, deny-by-default authorization (Cedar), governed tools, and the agent runtime are native AWS services — deployed in your account, on your data, under your controls.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7048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account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6968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via infrastructure-as-code into your AWS environment — your VPC, your keys, your logs.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233172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64261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87184" y="2606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 stays yours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47104" y="322783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is masked before any model call; nothing leaves your boundary for third-party processing.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9536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9536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identity provider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6968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 your existing IdP; actions are bound to your people and your roles.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27064" y="411480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442569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19672" y="4425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3891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&amp; reversible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47104" y="501091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deploy, one-command teardown with zero residual — easy to evaluate, easy to remove.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STANDS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end-to-end on AWS — not a slideware demo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17/17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checks pass, live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1596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1596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0740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FAERS reports queried live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5008" y="1417320"/>
            <a:ext cx="3566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5008" y="152704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156448" y="21945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submissions gated by a human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29260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31272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live, in enforcement mode: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de-identified CIOMS-style narrative drafted by the model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(name, DOB, MRN) removed before the model — fail-closed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Un-masked drafting refused by policy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36118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3611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1696" y="35387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blocked from submitting — every time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11696" y="41056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person required to approve; approvals are single-use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309360" y="474573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4745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written for each step; duplicates rejected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DIVISION OF RESPONSIBILITY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bring, what stays yours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PROVIDES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860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2402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agent + policies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96112" y="278892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74320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intake tools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96112" y="32918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2461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PHI masking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379476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794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74904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sign-off workflow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6112" y="42976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2519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immutable audit design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6112" y="480060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800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75488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+ documentation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99632" y="150876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8600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23113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identity provider + role mapping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28816" y="287121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816352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your systems of record (Argus / Veeva) under a BAA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28816" y="345643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4015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MedDRA / WHODrug dictionary licensing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528816" y="404164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986784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(CSV / CSA)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28816" y="46268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57200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authorization to operate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66928" y="566928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accelerator, not a finished product — the validation and certification for your intended use stay with you.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FOR YOUR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Reviewers spend their time on judgment, not assembly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first drafts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produces a de-identified, structured narrative for review in minutes — reviewers refine instead of starting from a blank page.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19656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consistent intake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532888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runs the same governed path — the same masking, the same coding step, the same audit — reducing variability.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Audit-ready by construction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captured automatically as the work happens, not reconstructed later for an inspection.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9136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Reviewers stay in command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626864"/>
            <a:ext cx="4837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8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qualified-person determination and the submission remain human — the agent never makes the call.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Pharmacovigilance · on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023360"/>
            <a:ext cx="5120640" cy="512064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WE'D 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scoped pilot on synthetic data — in your account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Low-risk, boundary-explicit, and reversible. We stand the pattern up on synthetic or de-identified data in your AWS environment, prove the controls with your compliance team, then scope what a validated deployment would take.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953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7276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Workshop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your safety, QA, and security teams through the architecture and the live 17-check proof.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696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8696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1596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857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2180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pilot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3600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your account on synthetic data; run real cases end-to-end through the governed workflow.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3600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2423160"/>
            <a:ext cx="3529584" cy="2331720"/>
          </a:xfrm>
          <a:prstGeom prst="roundRect">
            <a:avLst>
              <a:gd name="adj" fmla="val 3922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57616" y="2697480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57616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70848" y="2715768"/>
            <a:ext cx="2386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scope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385048" y="3383280"/>
            <a:ext cx="28895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CSV, connectors, and ATO a production deployment for your intended use would require.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385048" y="420624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385048" y="4206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AI you can actually put in front of an auditor — let's prove it on your data.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AI for Pharmacovigilance</dc:title>
  <dc:subject>PptxGenJS Presentation</dc:subject>
  <dc:creator>PV AgentCore Accelerator</dc:creator>
  <cp:lastModifiedBy>PV AgentCore Accelerator</cp:lastModifiedBy>
  <cp:revision>1</cp:revision>
  <dcterms:created xsi:type="dcterms:W3CDTF">2026-07-16T12:42:07Z</dcterms:created>
  <dcterms:modified xsi:type="dcterms:W3CDTF">2026-07-16T12:42:07Z</dcterms:modified>
</cp:coreProperties>
</file>