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one-line thesis: AWS shipped the governance primitives; we implemented the regulated-industry pattern natively on AgentCore and proved it end-to-end. This deck walks the story from tension to proof to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non-negotiables that block ungoverned agents in regulated settings. The rest of the deck shows how AgentCore + three last-mile controls satisfy all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'why now.' Previously teams hand-rolled identity, policy engines, audit. AgentCore makes those native. The strategic implication is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strategic message. Six of nine controls are native; three are the regulated 'last mile' we add. This positions the work as extending AgentCore, not competing with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Amber = the human step; navy = the irreversible submit. The callout is the crux: a qualified person commits, the agent never self-submits. Keep returning to this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nine-control map. Green NATIVE (6) = AgentCore services. Amber BUILD (3) = the regulated last mile. This is the honest architecture at a glance.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down the left column, then the right. Steps 5 (fail-closed masking) and 6 (human gate) are the regulated controls; step 4 (Cedar deny-by-default) is the native spine.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credibility slide. It's not a mockup — it's a reproducible, one-command demo that stands the stack up, proves 17 checks in ENFORCE mode, and tears down with zero residual.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'max-native on AgentCore' realized: the agent itself runs on Runtime under a real Cognito identity, and governance holds on the real principal. Outsider proves deny-by-default even when the agent drives.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are where a governed agent earns an auditor's trust. Each maps to a named regulation. Fail-closed masking, a real human gate, and tamper-proof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the technical work back to AWS strategy: it wins regulated deals, it's reusable, it's low-risk, and it's credible because it's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oversell. This slide is what makes regulated buyers trust the rest. State the boundary plainly: we own the pattern and the proof; they own certification, connectors, and licensed dictionaries.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strategic multiplier: one pattern, four verticals, PV proven. The ask is a simple three-step path from internal demo to a scoped, synthetic-data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1737360"/>
            <a:ext cx="5669280" cy="5669280"/>
          </a:xfrm>
          <a:prstGeom prst="ellipse">
            <a:avLst/>
          </a:prstGeom>
          <a:solidFill>
            <a:srgbClr val="143A5E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-822960"/>
            <a:ext cx="3840480" cy="3840480"/>
          </a:xfrm>
          <a:prstGeom prst="ellipse">
            <a:avLst/>
          </a:prstGeom>
          <a:solidFill>
            <a:srgbClr val="18466F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0" y="-45720"/>
            <a:ext cx="2286000" cy="22860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AGENTCORE  ·  REGULATED INDUSTRIES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3504" y="178308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Agentic AI,</a:t>
            </a:r>
            <a:endParaRPr lang="en-US" sz="4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in a Regulated Workflow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pharmacovigilance (drug-safety) accelerator running natively on Amazon Bedrock AgentCore — identity-bound, deny-by-default with Cedar, and proven end-to-end on AWS.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5029200"/>
            <a:ext cx="3072384" cy="457200"/>
          </a:xfrm>
          <a:prstGeom prst="roundRect">
            <a:avLst>
              <a:gd name="adj" fmla="val 50000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02920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 live governance checks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41064" y="5029200"/>
            <a:ext cx="2445106" cy="457200"/>
          </a:xfrm>
          <a:prstGeom prst="roundRect">
            <a:avLst>
              <a:gd name="adj" fmla="val 50000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41064" y="5029200"/>
            <a:ext cx="2445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native on Runtime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14770" y="5029200"/>
            <a:ext cx="3251606" cy="457200"/>
          </a:xfrm>
          <a:prstGeom prst="roundRect">
            <a:avLst>
              <a:gd name="adj" fmla="val 50000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14770" y="5029200"/>
            <a:ext cx="32516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IaC · zero-residual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6126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v1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Regulated industries want agentic AI. They can't deploy an ungoverned one.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life sciences and healthcare, an agent that touches patient data and drafts regulatory submissions must be identity-bound, deny-by-default, auditable, and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incapable of acting unilaterally.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“Impressive demo” is not the bar — “will pass an audit” 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514600"/>
            <a:ext cx="3529584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825496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91056" y="2843784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Touches PHI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77824" y="36576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names, DOB, MRNs flow through the case.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77824" y="5093208"/>
            <a:ext cx="2907792" cy="45720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509320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· de-identification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15968" y="2514600"/>
            <a:ext cx="3529584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8576" y="2825496"/>
            <a:ext cx="566928" cy="56692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08576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40096" y="2843784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Creates regulatory records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26864" y="36576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drafted ICSR becomes an electronic record &amp; signature.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626864" y="5093208"/>
            <a:ext cx="2907792" cy="45720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4626864" y="509320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Part 11 · tamper-proof evidence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65008" y="2514600"/>
            <a:ext cx="3529584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57616" y="2825496"/>
            <a:ext cx="566928" cy="56692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57616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89136" y="2843784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Takes consequential actions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75904" y="36576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Submitting to FDA/EMA is irreversible and accountable.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375904" y="5093208"/>
            <a:ext cx="2907792" cy="45720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/>
        </p:spPr>
      </p:sp>
      <p:sp>
        <p:nvSpPr>
          <p:cNvPr id="25" name="Text 23"/>
          <p:cNvSpPr/>
          <p:nvPr/>
        </p:nvSpPr>
        <p:spPr>
          <a:xfrm>
            <a:off x="8375904" y="509320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GxP · separation of duties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just shipped the governance primitives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25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AgentCore now provides — as native, managed services — the exact controls a governable agent needs. The gap between a “cool agent” and a “governable agent” just closed, on AWS.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651760"/>
            <a:ext cx="2084832" cy="28803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98448" y="2971800"/>
            <a:ext cx="621792" cy="621792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98448" y="2971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76656" y="37490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13232" y="4224528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JWT — Cognito or the customer's IdP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34640" y="2651760"/>
            <a:ext cx="2084832" cy="28803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2971800"/>
            <a:ext cx="621792" cy="621792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66160" y="2971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44368" y="37490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(Cedar)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2980944" y="4224528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Deny-by-default, forbid-wins authorization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02352" y="2651760"/>
            <a:ext cx="2084832" cy="28803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33872" y="2971800"/>
            <a:ext cx="621792" cy="621792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33872" y="2971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12080" y="37490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248656" y="4224528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/ Lambda exposed as governed MCP tools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70064" y="2651760"/>
            <a:ext cx="2084832" cy="28803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01584" y="2971800"/>
            <a:ext cx="621792" cy="621792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01584" y="2971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79792" y="37490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516368" y="4224528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Serverless, session-isolated agent hosting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37776" y="2651760"/>
            <a:ext cx="2084832" cy="28803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369296" y="2971800"/>
            <a:ext cx="621792" cy="621792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369296" y="2971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747504" y="37490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9784080" y="4224528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spans per agent &amp; tool step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" y="5715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native governance primitives — no platform to hand-build.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 the regulated pattern natively — don't rebuild the platform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394960" cy="3977640"/>
          </a:xfrm>
          <a:prstGeom prst="roundRect">
            <a:avLst>
              <a:gd name="adj" fmla="val 2299"/>
            </a:avLst>
          </a:prstGeom>
          <a:solidFill>
            <a:srgbClr val="143A5E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ON AGENTCORE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310896" cy="31089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98448" y="229514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human + agent identity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2843784"/>
            <a:ext cx="310896" cy="31089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843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98448" y="28072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 authorization (Cedar)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3355848"/>
            <a:ext cx="310896" cy="31089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98448" y="331927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intersection (agent ∩ human)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68680" y="3867912"/>
            <a:ext cx="310896" cy="31089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3867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98448" y="383133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as governed endpoints (Gateway)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68680" y="4379976"/>
            <a:ext cx="310896" cy="31089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4379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98448" y="43434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agent runtime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68680" y="4892040"/>
            <a:ext cx="310896" cy="31089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4892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98448" y="485546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&amp; observability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17920" y="1554480"/>
            <a:ext cx="5394960" cy="3977640"/>
          </a:xfrm>
          <a:prstGeom prst="roundRect">
            <a:avLst>
              <a:gd name="adj" fmla="val 2299"/>
            </a:avLst>
          </a:prstGeom>
          <a:solidFill>
            <a:srgbClr val="1E2E1A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554480"/>
            <a:ext cx="5394960" cy="3977640"/>
          </a:xfrm>
          <a:prstGeom prst="rect">
            <a:avLst/>
          </a:prstGeom>
          <a:ln w="15875">
            <a:solidFill>
              <a:srgbClr val="E8A1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9672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REGULATED LAST MILE — BUILT ALONGSIDE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19672" y="2395728"/>
            <a:ext cx="365760" cy="36576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19672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022592" y="234086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PHI / PII masking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22592" y="276148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masking → no draft. Ever.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19672" y="3328416"/>
            <a:ext cx="365760" cy="36576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19672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022592" y="327355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sign-off gate (separation of duties)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22592" y="369417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qualified person, single-use token.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519672" y="4261104"/>
            <a:ext cx="365760" cy="36576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19672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022592" y="42062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WORM audit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022592" y="462686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+ Object Lock; writer can't tamper.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6928" y="56692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on AWS-native services, plus the three controls regulated customers need that AgentCore doesn't ship. A stronger — and more honest — story than “we built our own platform.”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HERO USE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Pharmacovigilance: intake of an Individual Case Safety Report (ICSR)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444752" cy="1234440"/>
          </a:xfrm>
          <a:prstGeom prst="roundRect">
            <a:avLst>
              <a:gd name="adj" fmla="val 592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691640"/>
            <a:ext cx="1444752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the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event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93392" y="1691640"/>
            <a:ext cx="164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A8A"/>
                </a:solidFill>
              </a:rPr>
              <a:t>›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39696" y="1691640"/>
            <a:ext cx="1444752" cy="1234440"/>
          </a:xfrm>
          <a:prstGeom prst="roundRect">
            <a:avLst>
              <a:gd name="adj" fmla="val 592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39696" y="1691640"/>
            <a:ext cx="1444752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E2B(R3) fields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0" y="1691640"/>
            <a:ext cx="164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A8A"/>
                </a:solidFill>
              </a:rPr>
              <a:t>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12464" y="1691640"/>
            <a:ext cx="1444752" cy="1234440"/>
          </a:xfrm>
          <a:prstGeom prst="roundRect">
            <a:avLst>
              <a:gd name="adj" fmla="val 592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12464" y="1691640"/>
            <a:ext cx="1444752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MedDRA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WHODrug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38928" y="1691640"/>
            <a:ext cx="164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A8A"/>
                </a:solidFill>
              </a:rPr>
              <a:t>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85232" y="1691640"/>
            <a:ext cx="1444752" cy="1234440"/>
          </a:xfrm>
          <a:prstGeom prst="roundRect">
            <a:avLst>
              <a:gd name="adj" fmla="val 592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85232" y="1691640"/>
            <a:ext cx="1444752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seriousness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reporting clock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11696" y="1691640"/>
            <a:ext cx="164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A8A"/>
                </a:solidFill>
              </a:rPr>
              <a:t>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0" y="1691640"/>
            <a:ext cx="1444752" cy="1234440"/>
          </a:xfrm>
          <a:prstGeom prst="roundRect">
            <a:avLst>
              <a:gd name="adj" fmla="val 592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1691640"/>
            <a:ext cx="1444752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CIOMS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84464" y="1691640"/>
            <a:ext cx="164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A8A"/>
                </a:solidFill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430768" y="1691640"/>
            <a:ext cx="1444752" cy="1234440"/>
          </a:xfrm>
          <a:prstGeom prst="roundRect">
            <a:avLst>
              <a:gd name="adj" fmla="val 5926"/>
            </a:avLst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30768" y="1691640"/>
            <a:ext cx="1444752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Qualified-person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57232" y="1691640"/>
            <a:ext cx="164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A8A"/>
                </a:solidFill>
              </a:rPr>
              <a:t>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003536" y="1691640"/>
            <a:ext cx="1444752" cy="1234440"/>
          </a:xfrm>
          <a:prstGeom prst="roundRect">
            <a:avLst>
              <a:gd name="adj" fmla="val 5926"/>
            </a:avLst>
          </a:prstGeom>
          <a:solidFill>
            <a:srgbClr val="0E2A47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003536" y="1691640"/>
            <a:ext cx="1444752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to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/ EMA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338328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60120" y="3794760"/>
            <a:ext cx="822960" cy="822960"/>
          </a:xfrm>
          <a:prstGeom prst="ellipse">
            <a:avLst/>
          </a:prstGeom>
          <a:solidFill>
            <a:srgbClr val="0E2A47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0120" y="3794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2057400" y="367588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rule that drives the entire security design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057400" y="4160520"/>
            <a:ext cx="9372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GVP and 21 CFR 314 / 600, a qualified person makes the causality and reportability determination and commits the submission. 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assembles, codes, and drafts — it never self-submits. Everything else in this architecture exists to enforce that one sentence.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controls native, three built alongside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461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517904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5179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075688" y="1417320"/>
            <a:ext cx="3429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human + agent identity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96128" y="1417320"/>
            <a:ext cx="5852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Identity — inbound JWT (Cognito / customer IdP)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1933956"/>
            <a:ext cx="11064240" cy="461772"/>
          </a:xfrm>
          <a:prstGeom prst="rect">
            <a:avLst/>
          </a:prstGeom>
          <a:solidFill>
            <a:srgbClr val="ECF1F5"/>
          </a:solidFill>
          <a:ln/>
        </p:spPr>
      </p:sp>
      <p:sp>
        <p:nvSpPr>
          <p:cNvPr id="10" name="Shape 8"/>
          <p:cNvSpPr/>
          <p:nvPr/>
        </p:nvSpPr>
        <p:spPr>
          <a:xfrm>
            <a:off x="694944" y="203454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20345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075688" y="1933956"/>
            <a:ext cx="3429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 authorization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96128" y="1933956"/>
            <a:ext cx="5852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Policy (Cedar) — default-deny + forbid-wins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2450592"/>
            <a:ext cx="11064240" cy="461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94944" y="2551176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" y="255117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075688" y="2450592"/>
            <a:ext cx="3429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intersection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96128" y="2450592"/>
            <a:ext cx="5852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Cedar principal = OAuthUser; JWT claims + tool-parameter conditions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2967228"/>
            <a:ext cx="11064240" cy="461772"/>
          </a:xfrm>
          <a:prstGeom prst="rect">
            <a:avLst/>
          </a:prstGeom>
          <a:solidFill>
            <a:srgbClr val="ECF1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94944" y="3067812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" y="306781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75688" y="2967228"/>
            <a:ext cx="3429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as governed endpoints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96128" y="2967228"/>
            <a:ext cx="5852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Gateway — Lambda → MCP tools; every call passes Policy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3483864"/>
            <a:ext cx="11064240" cy="461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94944" y="35844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" y="358444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075688" y="3483864"/>
            <a:ext cx="3429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hosting / runtime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96128" y="3483864"/>
            <a:ext cx="5852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Runtime — serverless, session-isolated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4000500"/>
            <a:ext cx="11064240" cy="461772"/>
          </a:xfrm>
          <a:prstGeom prst="rect">
            <a:avLst/>
          </a:prstGeom>
          <a:solidFill>
            <a:srgbClr val="ECF1F5"/>
          </a:solidFill>
          <a:ln/>
        </p:spPr>
      </p:sp>
      <p:sp>
        <p:nvSpPr>
          <p:cNvPr id="30" name="Shape 28"/>
          <p:cNvSpPr/>
          <p:nvPr/>
        </p:nvSpPr>
        <p:spPr>
          <a:xfrm>
            <a:off x="694944" y="4101084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" y="41010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075688" y="4000500"/>
            <a:ext cx="3429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/ observability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96128" y="4000500"/>
            <a:ext cx="5852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Observability — OpenTelemetry spans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6928" y="4517136"/>
            <a:ext cx="11064240" cy="461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694944" y="461772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8A13A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" y="46177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075688" y="4517136"/>
            <a:ext cx="3429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PHI / PII masking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596128" y="4517136"/>
            <a:ext cx="5852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mask_phi tool — Comprehend Medical, before model &amp; audit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66928" y="5033772"/>
            <a:ext cx="11064240" cy="461772"/>
          </a:xfrm>
          <a:prstGeom prst="rect">
            <a:avLst/>
          </a:prstGeom>
          <a:solidFill>
            <a:srgbClr val="ECF1F5"/>
          </a:solidFill>
          <a:ln/>
        </p:spPr>
      </p:sp>
      <p:sp>
        <p:nvSpPr>
          <p:cNvPr id="40" name="Shape 38"/>
          <p:cNvSpPr/>
          <p:nvPr/>
        </p:nvSpPr>
        <p:spPr>
          <a:xfrm>
            <a:off x="694944" y="5134356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8A13A"/>
          </a:solidFill>
          <a:ln/>
        </p:spPr>
      </p:sp>
      <p:sp>
        <p:nvSpPr>
          <p:cNvPr id="41" name="Text 39"/>
          <p:cNvSpPr/>
          <p:nvPr/>
        </p:nvSpPr>
        <p:spPr>
          <a:xfrm>
            <a:off x="694944" y="513435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075688" y="5033772"/>
            <a:ext cx="3429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sign-off gate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596128" y="5033772"/>
            <a:ext cx="5852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 waitForTaskToken — bound, single-use approval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66928" y="5550408"/>
            <a:ext cx="11064240" cy="461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694944" y="5650992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8A13A"/>
          </a:solidFill>
          <a:ln/>
        </p:spPr>
      </p:sp>
      <p:sp>
        <p:nvSpPr>
          <p:cNvPr id="46" name="Text 44"/>
          <p:cNvSpPr/>
          <p:nvPr/>
        </p:nvSpPr>
        <p:spPr>
          <a:xfrm>
            <a:off x="694944" y="56509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075688" y="5550408"/>
            <a:ext cx="3429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WORM audit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596128" y="5550408"/>
            <a:ext cx="5852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DynamoDB + S3 Object Lock — Part 11 evidence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BEHAVIOR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one governed action flows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25296" y="13807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authenticates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25296" y="16733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/ IdP issues a JWT for the person on whose behalf the agent acts.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212848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25296" y="21762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decides to call a tool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25296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Strands agent runs on AgentCore Runtime and reaches for a Gateway tool.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008376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3008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25296" y="2971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validates identity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25296" y="32644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auth checks the JWT before anything runs.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803904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" y="38039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25296" y="37673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Cedar evaluates — default-deny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25296" y="405993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+ action + resource + conditions. A deny means the tool never runs — and is auditable.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10528" y="1417320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10528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168896" y="13807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runs first (fail-closed)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68896" y="16733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drafting, mask_phi de-identifies the case; the model only ever sees masked text.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10528" y="2212848"/>
            <a:ext cx="512064" cy="512064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0528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168896" y="21762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 for the commit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68896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request_signoff opens a Step Functions gate; a second qualified person approves. Only then does finalize run.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10528" y="3008376"/>
            <a:ext cx="512064" cy="512064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10528" y="3008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168896" y="2971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audit + trace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68896" y="32644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and state change is written to an immutable record and traced in Observability.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Proof, not slideware: 17 / 17 governance checks, live on AWS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4813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17/17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148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checks pass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371600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4813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20440" y="2148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native on AgentCore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91072" y="1371600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91072" y="14813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82512" y="2148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controls built &amp; proven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53144" y="1371600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53144" y="14813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244584" y="2148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on teardown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2880360"/>
            <a:ext cx="110642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0632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ran live, in ENFORCE mode, and each denial names the exact Cedar policy that fired: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6112" y="352044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98448" y="3474720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 — reviewer ALLOW, outsider DENY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96112" y="4032504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6112" y="4032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98448" y="3986784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Mask-before-model — un-masked draft is forbidden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96112" y="4544568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96112" y="4544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98448" y="4498848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No-self-submit — the agent can't finalize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96112" y="5056632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96112" y="5056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98448" y="5010912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PHI masking (Comprehend Medical, fail-closed)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309360" y="352044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0936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11696" y="3474720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Bedrock ICSR narrative through a Guardrail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309360" y="4032504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309360" y="4032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11696" y="3986784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WORM audit — write-once, append-only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309360" y="4544568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09360" y="4544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11696" y="4498848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sign-off — approver ≠ requester, single-use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309360" y="5056632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309360" y="5056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711696" y="5010912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openFDA / FAERS lookup (319k real reports)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ON RUNTIME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runs on AgentCore Runtime — driven by the human's identity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258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authenticates with Cognito; that same identity flows to the Gateway, so Cedar evaluates the real person. The agent inherits the human's least-privilege — it can do nothing the human isn't allowed to 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606040"/>
            <a:ext cx="566928" cy="56692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26060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Reviewer identity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full governed workflow: FAERS lookup → mask PHI → draft narrative → write audit → request sign-off. The forbidden finalize tool is hidden from the agent entirely by Cedar.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228600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47104" y="2606040"/>
            <a:ext cx="566928" cy="566928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47104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78624" y="26060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Outsider identity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47104" y="32918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denied — zero authorized tools. The agent honestly reports it did nothing: nothing masked, drafted, audited, or submitted. Deny-by-default holds even when the agent is driving.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663440"/>
            <a:ext cx="5440680" cy="914400"/>
          </a:xfrm>
          <a:prstGeom prst="roundRect">
            <a:avLst>
              <a:gd name="adj" fmla="val 9000"/>
            </a:avLst>
          </a:prstGeom>
          <a:solidFill>
            <a:srgbClr val="0E2A47"/>
          </a:solidFill>
          <a:ln/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1248" y="479145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50840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spans + structured logs per step, correlated to the identity, in CloudWatch.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99632" y="4663440"/>
            <a:ext cx="5440680" cy="914400"/>
          </a:xfrm>
          <a:prstGeom prst="roundRect">
            <a:avLst>
              <a:gd name="adj" fmla="val 9000"/>
            </a:avLst>
          </a:prstGeom>
          <a:solidFill>
            <a:srgbClr val="0E2A47"/>
          </a:solidFill>
          <a:ln/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73952" y="479145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3952" y="50840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identity + dynamic gateway discovery: the runtime survives redeploys untouched.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REGULATED LAST MILE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controls we build on top — the audit-passing difference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529584" cy="384048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929384"/>
            <a:ext cx="658368" cy="65836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9293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64208" y="1984248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Fail-closed PHI masking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77824" y="283464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77824" y="3291840"/>
            <a:ext cx="29077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Comprehend Medical de-identifies the case before the model or the audit sees it. If masking can't run, the draft is blocked — no un-masked PHI is ever emitted.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4315968" y="1600200"/>
            <a:ext cx="3529584" cy="384048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6864" y="1929384"/>
            <a:ext cx="658368" cy="65836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19293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13248" y="1984248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sign-off gate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26864" y="283464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GxP · separation of duties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26864" y="3291840"/>
            <a:ext cx="29077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is never an inline tool call. A Step Functions gate pauses for a different qualified person, who approves with a bound, single-use token.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8065008" y="1600200"/>
            <a:ext cx="3529584" cy="384048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75904" y="1929384"/>
            <a:ext cx="658368" cy="65836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75904" y="19293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62288" y="1984248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Immutable WORM audit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375904" y="283464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Part 11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75904" y="3291840"/>
            <a:ext cx="29077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DynamoDB + S3 Object Lock capture INTENT → COMMITTED. The principal that writes evidence is denied delete, update, and bypass.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566928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AgentCore's Observability traces are for operations — not tamper-proof evidence. That gap is exactly why the WORM audit is a control, not a log.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VALUE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for AWS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837944"/>
            <a:ext cx="548640" cy="5486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91056" y="1801368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Differentiates AgentCore where AWS wants to win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77824" y="2587752"/>
            <a:ext cx="4837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8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sciences, healthcare, public sector — the verticals with the strictest bar are the ones where native governance is the deciding factor.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6227064" y="1508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837944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51192" y="1801368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repeatable pattern, not a one-off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37960" y="2587752"/>
            <a:ext cx="4837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8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governed chassis — identity, Cedar, Gateway, Runtime, the three controls — with domain logic and fixtures swapped per use case.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566928" y="3602736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7824" y="3931920"/>
            <a:ext cx="548640" cy="54864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77824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91056" y="3895344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blast radius, high credibility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77824" y="4681728"/>
            <a:ext cx="4837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8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deep, proven hero per vertical beats a claim of forty shallow agents. Reference-grade, not vaporware.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6227064" y="3602736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3931920"/>
            <a:ext cx="548640" cy="548640"/>
          </a:xfrm>
          <a:prstGeom prst="ellipse">
            <a:avLst/>
          </a:prstGeom>
          <a:solidFill>
            <a:srgbClr val="0E2A47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3796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51192" y="3895344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by construction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537960" y="4681728"/>
            <a:ext cx="4837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8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clear about what's proven vs. engagement work — which is exactly what regulated buyers and their auditors trust.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proven vs. what's engagement work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44068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ACCELERATOR OWNS  ·  PROVEN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96112" y="224028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19456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+ the Cedar policies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96112" y="2724912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611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98448" y="2679192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seven tools + fail-closed masking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6112" y="3209544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6112" y="3209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98448" y="3163824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human-gate workflow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6112" y="3694176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6112" y="3694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3648456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immutable audit design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6112" y="4178808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98448" y="4133088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IaC + one-command demo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96112" y="466344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611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98448" y="461772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documentation set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99632" y="1463040"/>
            <a:ext cx="544068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01384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OWNS  ·  ENGAGEMENT WORK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28816" y="2240280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28816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31152" y="2185416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federation + role mapping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28816" y="2807208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28816" y="2807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31152" y="275234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validation to live safety systems (Argus / Veeva) under a BAA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528816" y="3374136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28816" y="3374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31152" y="331927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MedDRA / WHODrug licensed dictionaries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528816" y="3941064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28816" y="3941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31152" y="388620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Computer-system validation (CSV / CSA)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528816" y="4507992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528816" y="4507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31152" y="445312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ATO / HITRUST / FedRAMP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66928" y="5440680"/>
            <a:ext cx="11064240" cy="640080"/>
          </a:xfrm>
          <a:prstGeom prst="roundRect">
            <a:avLst>
              <a:gd name="adj" fmla="val 12857"/>
            </a:avLst>
          </a:prstGeom>
          <a:solidFill>
            <a:srgbClr val="0E2A47"/>
          </a:solidFill>
          <a:ln/>
        </p:spPr>
      </p:sp>
      <p:sp>
        <p:nvSpPr>
          <p:cNvPr id="42" name="Text 40"/>
          <p:cNvSpPr/>
          <p:nvPr/>
        </p:nvSpPr>
        <p:spPr>
          <a:xfrm>
            <a:off x="566928" y="5440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is production-certified on day one — and saying so is the credibility.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5029200" cy="5029200"/>
          </a:xfrm>
          <a:prstGeom prst="ellipse">
            <a:avLst/>
          </a:prstGeom>
          <a:solidFill>
            <a:srgbClr val="143A5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governed pattern, four regulated verticals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2801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pharmacovigilance agent is the template. The same governed chassis — identity, Cedar, Gateway, Runtime, and the three last-mile controls — carries to the other hero agents by swapping domain logic and fixtures.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286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 w="15875">
            <a:solidFill>
              <a:srgbClr val="02C39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2487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HCLS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29992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Pharmacovigilance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344168" y="352958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344168" y="35295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29000" y="2286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29000" y="2487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20440" y="29992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Local Gov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06240" y="352958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35295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91072" y="2286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91072" y="2487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HPP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82512" y="29992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Payer / Provider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068312" y="352958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068312" y="35295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53144" y="2286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53144" y="2487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44584" y="29992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930384" y="352958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9930384" y="35295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4709160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6928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70432" y="46908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demo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70432" y="50017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stack live and walk leadership through the 17-check proof.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279392" y="4709160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279392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882896" y="46908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workshops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882896" y="50017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pattern to regulated accounts as a reference architecture.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991856" y="4709160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991856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95360" y="46908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pilot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595360" y="50017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on synthetic data with a named safety org, boundary made explicit.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66928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agentic AI, native on AWS — proven where the bar is highest.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Governed Agentic AI for Regulated Industries</dc:title>
  <dc:subject>PptxGenJS Presentation</dc:subject>
  <dc:creator>PV AgentCore Accelerator</dc:creator>
  <cp:lastModifiedBy>PV AgentCore Accelerator</cp:lastModifiedBy>
  <cp:revision>1</cp:revision>
  <dcterms:created xsi:type="dcterms:W3CDTF">2026-07-16T12:38:09Z</dcterms:created>
  <dcterms:modified xsi:type="dcterms:W3CDTF">2026-07-16T12:38:09Z</dcterms:modified>
</cp:coreProperties>
</file>